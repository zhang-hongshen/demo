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93088f2bc94b09" /><Relationship Type="http://schemas.openxmlformats.org/officeDocument/2006/relationships/extended-properties" Target="/docProps/app.xml" Id="R12030787f90442ed" /><Relationship Type="http://schemas.openxmlformats.org/officeDocument/2006/relationships/officeDocument" Target="/ppt/presentation.xml" Id="R82bdb78442d843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64736ac7b34f40"/>
  </p:sldMasterIdLst>
  <p:notesMasterIdLst>
    <p:notesMasterId xmlns:r="http://schemas.openxmlformats.org/officeDocument/2006/relationships" r:id="R509860139c694822"/>
  </p:notesMasterIdLst>
  <p:sldIdLst>
    <p:sldId xmlns:r="http://schemas.openxmlformats.org/officeDocument/2006/relationships" id="256" r:id="R8e6d38bc13af4f17"/>
    <p:sldId xmlns:r="http://schemas.openxmlformats.org/officeDocument/2006/relationships" id="257" r:id="Rec662af591cc4586"/>
    <p:sldId xmlns:r="http://schemas.openxmlformats.org/officeDocument/2006/relationships" id="258" r:id="R36e0cb41df9e483a"/>
    <p:sldId xmlns:r="http://schemas.openxmlformats.org/officeDocument/2006/relationships" id="259" r:id="Rb46e529aa3cf43e2"/>
    <p:sldId xmlns:r="http://schemas.openxmlformats.org/officeDocument/2006/relationships" id="260" r:id="Re4e1972f77814a63"/>
    <p:sldId xmlns:r="http://schemas.openxmlformats.org/officeDocument/2006/relationships" id="261" r:id="Rbe3b5a58cc2f4226"/>
    <p:sldId xmlns:r="http://schemas.openxmlformats.org/officeDocument/2006/relationships" id="262" r:id="R61c99f784de749b5"/>
    <p:sldId xmlns:r="http://schemas.openxmlformats.org/officeDocument/2006/relationships" id="263" r:id="R18b515a95aa24222"/>
    <p:sldId xmlns:r="http://schemas.openxmlformats.org/officeDocument/2006/relationships" id="264" r:id="R1dda0a6c9d6643b5"/>
    <p:sldId xmlns:r="http://schemas.openxmlformats.org/officeDocument/2006/relationships" id="265" r:id="Rd4b077ef35ee465d"/>
    <p:sldId xmlns:r="http://schemas.openxmlformats.org/officeDocument/2006/relationships" id="266" r:id="Rae4e67e0c63145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bfff8c371242ce" /><Relationship Type="http://schemas.openxmlformats.org/officeDocument/2006/relationships/slideMaster" Target="/ppt/slideMasters/slideMaster1.xml" Id="R8864736ac7b34f40" /><Relationship Type="http://schemas.openxmlformats.org/officeDocument/2006/relationships/notesMaster" Target="/ppt/notesMasters/notesMaster1.xml" Id="R509860139c694822" /><Relationship Type="http://schemas.openxmlformats.org/officeDocument/2006/relationships/presProps" Target="/ppt/presProps.xml" Id="R0cf566e9536e438d" /><Relationship Type="http://schemas.openxmlformats.org/officeDocument/2006/relationships/tableStyles" Target="/ppt/tableStyles.xml" Id="Rd7a330d6f9d940ce" /><Relationship Type="http://schemas.openxmlformats.org/officeDocument/2006/relationships/slide" Target="/ppt/slides/slide1.xml" Id="R8e6d38bc13af4f17" /><Relationship Type="http://schemas.openxmlformats.org/officeDocument/2006/relationships/slide" Target="/ppt/slides/slide2.xml" Id="Rec662af591cc4586" /><Relationship Type="http://schemas.openxmlformats.org/officeDocument/2006/relationships/slide" Target="/ppt/slides/slide3.xml" Id="R36e0cb41df9e483a" /><Relationship Type="http://schemas.openxmlformats.org/officeDocument/2006/relationships/slide" Target="/ppt/slides/slide4.xml" Id="Rb46e529aa3cf43e2" /><Relationship Type="http://schemas.openxmlformats.org/officeDocument/2006/relationships/slide" Target="/ppt/slides/slide5.xml" Id="Re4e1972f77814a63" /><Relationship Type="http://schemas.openxmlformats.org/officeDocument/2006/relationships/slide" Target="/ppt/slides/slide6.xml" Id="Rbe3b5a58cc2f4226" /><Relationship Type="http://schemas.openxmlformats.org/officeDocument/2006/relationships/slide" Target="/ppt/slides/slide7.xml" Id="R61c99f784de749b5" /><Relationship Type="http://schemas.openxmlformats.org/officeDocument/2006/relationships/slide" Target="/ppt/slides/slide8.xml" Id="R18b515a95aa24222" /><Relationship Type="http://schemas.openxmlformats.org/officeDocument/2006/relationships/slide" Target="/ppt/slides/slide9.xml" Id="R1dda0a6c9d6643b5" /><Relationship Type="http://schemas.openxmlformats.org/officeDocument/2006/relationships/slide" Target="/ppt/slides/slide10.xml" Id="Rd4b077ef35ee465d" /><Relationship Type="http://schemas.openxmlformats.org/officeDocument/2006/relationships/slide" Target="/ppt/slides/slide11.xml" Id="Rae4e67e0c63145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0efa6b2e3642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5557a2cbcf49d9" /><Relationship Type="http://schemas.openxmlformats.org/officeDocument/2006/relationships/notesMaster" Target="/ppt/notesMasters/notesMaster1.xml" Id="Rc295b90bf22444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a4d2a06c194450" /><Relationship Type="http://schemas.openxmlformats.org/officeDocument/2006/relationships/notesMaster" Target="/ppt/notesMasters/notesMaster1.xml" Id="R45bad1b3596c44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8bd5383fd04ffa" /><Relationship Type="http://schemas.openxmlformats.org/officeDocument/2006/relationships/notesMaster" Target="/ppt/notesMasters/notesMaster1.xml" Id="Rc75f0858338646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9ce93c47c94766" /><Relationship Type="http://schemas.openxmlformats.org/officeDocument/2006/relationships/notesMaster" Target="/ppt/notesMasters/notesMaster1.xml" Id="R78798ed2737447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70970379564675" /><Relationship Type="http://schemas.openxmlformats.org/officeDocument/2006/relationships/notesMaster" Target="/ppt/notesMasters/notesMaster1.xml" Id="R341d6e2457384f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64bb75377f45eb" /><Relationship Type="http://schemas.openxmlformats.org/officeDocument/2006/relationships/notesMaster" Target="/ppt/notesMasters/notesMaster1.xml" Id="Rb86b2718c32248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3b21ebdc1a46ad" /><Relationship Type="http://schemas.openxmlformats.org/officeDocument/2006/relationships/notesMaster" Target="/ppt/notesMasters/notesMaster1.xml" Id="R88e30fb3cea54b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b2f41b32534472" /><Relationship Type="http://schemas.openxmlformats.org/officeDocument/2006/relationships/notesMaster" Target="/ppt/notesMasters/notesMaster1.xml" Id="Radd252d30e284e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aa8be20bc84f8f" /><Relationship Type="http://schemas.openxmlformats.org/officeDocument/2006/relationships/notesMaster" Target="/ppt/notesMasters/notesMaster1.xml" Id="Re97d6f1081aa4b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c86ca5e36d40bd" /><Relationship Type="http://schemas.openxmlformats.org/officeDocument/2006/relationships/notesMaster" Target="/ppt/notesMasters/notesMaster1.xml" Id="Rf16cf7257bf24d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69c8cc3f3645a5" /><Relationship Type="http://schemas.openxmlformats.org/officeDocument/2006/relationships/notesMaster" Target="/ppt/notesMasters/notesMaster1.xml" Id="R5ce80c6c10ba4c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不是一个单点工具，而是一张教师工作台。它把一节课前后的关键动作放在同一个连续工作流里：先准备课程，再生成课件，课堂中用助手控节奏，课后批改、分析并沉淀复盘。右侧是真实产品界面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讲解时长建议：40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这一页先讲老师的真实工作状态，不从功能菜单开始。三类高频问题分别对应：资源管理、作业处理、教学复盘。产品的价值在于把信息从一次性输入，变成可复用的课程资产。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讲解时长建议：50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重点说明课程空间不是单纯的保存列表。它保存的是一门课的工作上下文：输入、生成结果、历史版本与附件。展示右侧的“用于课件生成”操作时，可以强调：保存一次，后续备课可以直接继续使用。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讲解时长建议：55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这里讲清楚产品的核心输入输出关系。输入不是一句模糊指令，而是课程名称、主题、教学目标、时长、输出风格和补充材料；输出也不局限于一页课件，而是一套可继续修改的课堂方案。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讲解时长建议：55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演示课表与备课日历时，先展示月视图，再指出顶部的日期、安排类型和安排内容输入。这里的价值是让备课不再依赖临时记忆：每一个教学动作都可以落到具体日期。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讲解时长建议：50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演示素材建议：录制一次“新增安排”，让观众看到从选择日期到安排类型的完整动作。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这一页不需要强调复杂功能，而是强调课中体验：教师不必离开教学现场去查工具。课堂助手提供两个高频动作：控制节奏，以及拿到一个可以追问的问题。课后复盘再把课堂观察接回课程空间。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讲解时长建议：45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后续录屏可展示：打开课堂助手、开始计时、生成/查看问题卡、结束课堂。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高优先级功能之一。先指出界面中“批量作业批改”的入口，再按三步讲：导入多份作业、使用统一评分标准、集中查看结果。注意不要把批量批改讲成完全替代教师判断，产品承担的是重复处理和结果整理，教师仍然掌握评分标准和最终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讲解时长建议：55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录屏建议：准备 3 份内容结构相似的作业文件，展示导入、批改按钮、进度和结果列表。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情分析页重点讲“动作闭环”，不需要堆很多指标。批改结果的价值在于让老师知道下一节课应该重新解释什么、给谁补充什么、哪些内容可以加深。这里可以结合真实产品中的学情分析结果演示，但不要把产品尚未验证的具体统计口径写死在汇报稿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讲解时长建议：45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这一页是产品总览的收束。用一条横向链路把前面的功能重新组织起来：课程空间承接输入，课件和课堂助手支持教学，批改、学情分析和复盘形成证据，再回到下一次课件生成。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讲解时长建议：45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这页是素材交接页。当前没有用户提供的实际视频，所以保留了一个明确标注的可替换视频位，没有伪造视频内容。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macOS 录制步骤：按 Shift + Command + 5，选择“录制整个屏幕”或“录制所选部分”；把浏览器窗口调整到 16:9，隐藏地址栏，开始录制。每段只演示一个动作链，控制在 30–45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建议录制三段：</a:t>
            </a:r>
          </a:p>
          <a:p xmlns:a="http://schemas.openxmlformats.org/drawingml/2006/main">
            <a:r>
              <a:t>1. 课程空间：打开课程，点击“用于课件生成”，生成一次课件。</a:t>
            </a:r>
          </a:p>
          <a:p xmlns:a="http://schemas.openxmlformats.org/drawingml/2006/main">
            <a:r>
              <a:t>2. 批量批改：导入 3 份作业，点击批量批改，展示进度和结果。</a:t>
            </a:r>
          </a:p>
          <a:p xmlns:a="http://schemas.openxmlformats.org/drawingml/2006/main">
            <a:r>
              <a:t>3. 课表日历：选择日期，添加一条备课或授课安排。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截图可用 Shift + Command + 4 框选窗口；尽量保持 16:9，并让关键按钮和结果完整入镜。素材准备好后，可以直接替换本页视频位，也可以把视频分别插入对应功能页。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讲解时长建议：35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结尾回到教师视角：产品不是把功能堆在一起，而是让备课、授课、批改和复盘之间少一次信息搬运。最后可以播放你录制的 30 秒总览视频，或者回到第 1 页展示产品全貌。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讲解时长建议：30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1b046b85e4b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664381fe064a2f" /><Relationship Type="http://schemas.openxmlformats.org/officeDocument/2006/relationships/slideLayout" Target="/ppt/slideLayouts/slideLayout1.xml" Id="R5bc34018ae5840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c34018ae5840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05b1fa28846a9" /><Relationship Type="http://schemas.openxmlformats.org/officeDocument/2006/relationships/image" Target="/ppt/media/image.jpeg" Id="R92a52f70e3054fc4" /><Relationship Type="http://schemas.openxmlformats.org/officeDocument/2006/relationships/notesSlide" Target="/ppt/notesSlides/notesSlide1.xml" Id="Rd70a5197f92b44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6dfc58b2942b4" /><Relationship Type="http://schemas.openxmlformats.org/officeDocument/2006/relationships/notesSlide" Target="/ppt/notesSlides/notesSlide2.xml" Id="R42bf2d96467042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54505d18e49c8" /><Relationship Type="http://schemas.openxmlformats.org/officeDocument/2006/relationships/image" Target="/ppt/media/image2.jpeg" Id="Ra65f0e370ed442b2" /><Relationship Type="http://schemas.openxmlformats.org/officeDocument/2006/relationships/notesSlide" Target="/ppt/notesSlides/notesSlide3.xml" Id="Rb24b551881264c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8088d335e484d" /><Relationship Type="http://schemas.openxmlformats.org/officeDocument/2006/relationships/image" Target="/ppt/media/image3.jpeg" Id="R1fdea0747b844ff0" /><Relationship Type="http://schemas.openxmlformats.org/officeDocument/2006/relationships/notesSlide" Target="/ppt/notesSlides/notesSlide4.xml" Id="Rc00cbb6319844a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0a65603e94f2d" /><Relationship Type="http://schemas.openxmlformats.org/officeDocument/2006/relationships/image" Target="/ppt/media/image4.jpeg" Id="R66d73bfbf0784769" /><Relationship Type="http://schemas.openxmlformats.org/officeDocument/2006/relationships/notesSlide" Target="/ppt/notesSlides/notesSlide5.xml" Id="Rb76bcf8716af4e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4451046914686" /><Relationship Type="http://schemas.openxmlformats.org/officeDocument/2006/relationships/notesSlide" Target="/ppt/notesSlides/notesSlide6.xml" Id="R15005c47a4b646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8db5fbace418d" /><Relationship Type="http://schemas.openxmlformats.org/officeDocument/2006/relationships/image" Target="/ppt/media/image5.jpeg" Id="R98c6cdc313084659" /><Relationship Type="http://schemas.openxmlformats.org/officeDocument/2006/relationships/notesSlide" Target="/ppt/notesSlides/notesSlide7.xml" Id="Rbfbb329df9194e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1a5e9b2354455" /><Relationship Type="http://schemas.openxmlformats.org/officeDocument/2006/relationships/notesSlide" Target="/ppt/notesSlides/notesSlide8.xml" Id="Rba9e9d879ac74b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bb4b9e7c249f4" /><Relationship Type="http://schemas.openxmlformats.org/officeDocument/2006/relationships/notesSlide" Target="/ppt/notesSlides/notesSlide9.xml" Id="Re07f0d46c4f04c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2069a1ae4413d" /><Relationship Type="http://schemas.openxmlformats.org/officeDocument/2006/relationships/notesSlide" Target="/ppt/notesSlides/notesSlide10.xml" Id="R766163c0972547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d5ea5d85c48bd" /><Relationship Type="http://schemas.openxmlformats.org/officeDocument/2006/relationships/notesSlide" Target="/ppt/notesSlides/notesSlide11.xml" Id="Rae4ed660a0394a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38538-B701-4D51-A62B-7924774D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55E8D-E0B5-4DA7-BD9E-A3CCC7E7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E7F33-0CD3-492B-ADC2-5079718C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5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教学设计工作台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C76FF-AB45-4D4F-96C0-C5E924A5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098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让一节课，从备课到复盘形成一个连续工作流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D5326-2B67-4B5D-A84C-7FD89C0A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71850"/>
            <a:ext cx="1200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4747D-9458-4FDD-B90B-C6FF7A25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95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47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47A6"/>
                </a:solidFill>
                <a:latin typeface="PingFang SC"/>
                <a:ea typeface="PingFang SC"/>
                <a:cs typeface="PingFang SC"/>
              </a:rPr>
              <a:t>产品讲解 · 教师工作场景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275DE-F9D5-4FA4-A054-721A09DF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2450"/>
            <a:ext cx="5162550" cy="4953000"/>
          </a:xfrm>
          <a:prstGeom xmlns:a="http://schemas.openxmlformats.org/drawingml/2006/main" prst="roundRect">
            <a:avLst>
              <a:gd name="adj" fmla="val 346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52f70e3054fc4"/>
          <a:stretch xmlns:a="http://schemas.openxmlformats.org/drawingml/2006/main"/>
        </p:blipFill>
        <p:spPr>
          <a:xfrm xmlns:a="http://schemas.openxmlformats.org/drawingml/2006/main">
            <a:off x="6800850" y="1324392"/>
            <a:ext cx="4743450" cy="2875717"/>
          </a:xfrm>
          <a:prstGeom xmlns:a="http://schemas.openxmlformats.org/drawingml/2006/main" prst="roundRect">
            <a:avLst>
              <a:gd name="adj" fmla="val 238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2247F-22D0-4706-92D8-1241C5AF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10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真实产品界面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88868-94B3-460D-ADC6-4A56BAE5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101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备课 · 授课 · 批改 · 分析</a:t>
            </a:r>
          </a:p>
        </p:txBody>
      </p:sp>
    </p:spTree>
    <p:extLst>
      <p:ext uri="{BB962C8B-B14F-4D97-AF65-F5344CB8AC3E}">
        <p14:creationId xmlns:p14="http://schemas.microsoft.com/office/powerpoint/2010/main" val="181055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11DDFF-6CF3-4778-81C8-A477FF08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教学设计工作台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CF0FC-8083-431B-AF42-CE677C19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为什么需要一个教师工作台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F4220-D842-41EA-A9FA-B8F00F2D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56684-8624-4EDA-941D-3486599B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老师真正需要的，不是更多工具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93DB1-7AB9-4B25-92B6-82A99237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62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而是一条不用反复搬运信息的教学路径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8BBE5-64F9-432D-9B8C-4EE0B41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C2413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413C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6E3CA-7087-4FB5-9658-A4407F37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ECAD7-04AF-4E00-BA65-8C3465A4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71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材料散落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0040E-88A2-4E9D-AA77-6E1C7446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课程文件、附件、历史版本，常常分布在不同位置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25843-24D2-4D90-B063-9142D9FB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29BE6-E9C2-47A8-A956-B638D2B2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E45BD-2814-453F-A3B1-6531B673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38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批改耗时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BC865-F29F-44EB-9E9C-C961E3C2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作业量一上来，评分标准和反馈很难保持一致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64B72-2132-42FF-B208-64A0069A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227F0-1AF3-4AEC-8E5B-C3177749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B3039-654C-432A-B676-BB9B6786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复盘靠记忆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E52A8-5922-453F-ABB8-D6B3D770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053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课堂发生过什么、学生卡在哪里，课后容易被日常工作冲淡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DB046-2A54-4FA2-B6D6-88E3DEC8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76450"/>
            <a:ext cx="45720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50DE5-E014-4D9A-9B84-551A0907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003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一个工作台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116D7-D4E1-4401-9F73-445A903F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95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把教师的判断留在教学现场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202B3-8CFD-42B0-A077-D3F21215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147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1DA31B-515F-42E3-BBB2-B3CB1E0F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14775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941EE9-F9FB-47A1-9131-757BC598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52875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64DD7-794F-4CEB-8B83-1B8C8E79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EBD95-DEB6-47F5-9D99-F4854058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14775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1116FE-5FDD-42C1-AB89-7748FF5B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52875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4934B9-564F-4856-A3D8-46A96ECB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991595-59E0-4F46-B94A-2818114E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14775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课堂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7E7C59-F274-4FD8-9F4A-79DA7FFA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52875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8FE4C8-1722-4935-AB2E-D6F23CC2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147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26D151-0923-4A33-B187-54FBA1CC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14775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批改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9DD2F8-27F5-4900-8C6A-C8C7E4C3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52875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60B17C-4F32-45BC-9122-363FAC85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147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55EB5E-1CC0-436F-B900-C51E2450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14775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分析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44E0A7-7A5C-488D-9613-519A9D84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05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47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47A6"/>
                </a:solidFill>
                <a:latin typeface="PingFang SC"/>
                <a:ea typeface="PingFang SC"/>
                <a:cs typeface="PingFang SC"/>
              </a:rPr>
              <a:t>信息进入一次，结果反复复用</a:t>
            </a:r>
          </a:p>
        </p:txBody>
      </p:sp>
    </p:spTree>
    <p:extLst>
      <p:ext uri="{BB962C8B-B14F-4D97-AF65-F5344CB8AC3E}">
        <p14:creationId xmlns:p14="http://schemas.microsoft.com/office/powerpoint/2010/main" val="10319554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5E4CC-7A2A-449C-A0AE-6E7303DE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教学设计工作台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3817D-B961-4E62-BF73-B7AFE4EB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课前：先把课程变成可复用的空间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5C532-9520-4A3F-93B2-72F72E1C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F9284-8D3A-4510-90AA-844B7A3E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一门课，先建立可复用的课程空间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56099-DC60-4AC5-9568-2EEBB5E5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62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输入、结果、历史版本和附件，围绕课程持续沉淀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0C0BF-7D6C-401E-897F-773867A4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628650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f0e370ed442b2"/>
          <a:stretch xmlns:a="http://schemas.openxmlformats.org/drawingml/2006/main"/>
        </p:blipFill>
        <p:spPr>
          <a:xfrm xmlns:a="http://schemas.openxmlformats.org/drawingml/2006/main">
            <a:off x="668125" y="2019300"/>
            <a:ext cx="5750351" cy="3486150"/>
          </a:xfrm>
          <a:prstGeom xmlns:a="http://schemas.openxmlformats.org/drawingml/2006/main" prst="roundRect">
            <a:avLst>
              <a:gd name="adj" fmla="val 273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A192C-F2DC-40E1-ACF7-D44FD940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52650"/>
            <a:ext cx="76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85C97-7947-427B-958C-78C2916F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课程资产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AF5C9-AD80-42F3-8E3A-80F65B31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54FC8-6954-44E3-8F64-EC8661DE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670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6EBFB-15EE-4E54-9F1E-F326C2E1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课程名称、主题、目标和补充材料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B1F60-651B-46C9-9F7F-AFA540B1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24200"/>
            <a:ext cx="367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B7723-3AF3-40AD-857D-D65EC0E5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BFF0C-53D9-4236-B8EE-95B4CB76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956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11A53-2DFA-4AB5-8C07-175A98B3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课件生成、批改、分析和复盘记录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1CFF0-8BEC-4EA6-83C7-37D34AD2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52850"/>
            <a:ext cx="367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B6BB00-9C69-4852-BFBF-78ADB263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ED5D0-EFCB-4DAA-8344-EF6331CF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243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版本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DEC6A-E25D-444B-8ECB-34C54FE3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243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重要改动保留，下一次继续迭代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B3CFA-73E5-4BC6-9365-33070320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81500"/>
            <a:ext cx="367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DE7CA-4702-4EA3-BAF5-06391872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19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0AC49-A6D1-4CC6-958E-02774AC2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529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复用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A973AD-52E4-4A57-B736-DF945349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529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保存的课程可直接用于课件生成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9AA879-AD1B-4FAE-91F9-CC9D5355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19700"/>
            <a:ext cx="4095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68579-ED1F-43F6-8558-33C8E9B5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495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47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47A6"/>
                </a:solidFill>
                <a:latin typeface="PingFang SC"/>
                <a:ea typeface="PingFang SC"/>
                <a:cs typeface="PingFang SC"/>
              </a:rPr>
              <a:t>课程空间 = 下一次备课的起点</a:t>
            </a:r>
          </a:p>
        </p:txBody>
      </p:sp>
    </p:spTree>
    <p:extLst>
      <p:ext uri="{BB962C8B-B14F-4D97-AF65-F5344CB8AC3E}">
        <p14:creationId xmlns:p14="http://schemas.microsoft.com/office/powerpoint/2010/main" val="1377876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FC765A-6942-45AE-BF9E-2A57527C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教学设计工作台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3DC97-4551-46DB-BF62-8C9B7155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课前：从教学意图到课堂方案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EEA57-4306-4F49-9D47-E9D0EDC4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11AA8-0699-43F3-8E41-929BE325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课件生成，把教学意图变成课堂方案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7217A-B3FC-4179-8647-37BDD99D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62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不是从模板开始，而是从课程目标、材料和课堂时长开始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05B37-5782-41AA-9342-45152E14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2190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9A41B-1D92-4CD8-8770-6D131978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DCD00-C670-448A-8478-8023AFC6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6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输入目标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AE6E3-A3CD-4BC0-806E-F37E5B9A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主题 · 目标 · 时长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482F6-8F68-4275-99EB-565E3815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4315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53D3F-9F33-4EAD-89E8-2471A2AB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24050"/>
            <a:ext cx="2190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186A7-422B-4854-8460-0ADD9D29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76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7C844-A23F-420B-9A70-21E0E50B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6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选择材料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9B20C-7990-4C14-83A8-AEDD9CF1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课件 · 讲义 · 附件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0340B-F7F6-456F-8DA9-A866EFB1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8E659-7656-4DFB-81C4-0A73DD4C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24050"/>
            <a:ext cx="2190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2C3E3-51B0-4312-BB5D-74DBE33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76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C2413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2413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1618C-2353-496D-B8D1-7FD71263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6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生成方案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5EACC-687C-44D8-B577-256263B3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670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课件 · 任务 · 讲解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B80F9-253E-4251-91EB-92049356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44958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1DF61-F20D-49D2-861E-369EF40C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3695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从空白页面到可讲的一节课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E6A3D-81C2-46AE-80E3-BD1BC62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3695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1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风格可调，材料可补充。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结果可继续编辑。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老师负责教学判断，工作台负责串起准备动作。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5BA7E-47EE-4F4C-A1AD-273567F1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71850"/>
            <a:ext cx="603885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ea0747b844ff0"/>
          <a:srcRect xmlns:a="http://schemas.openxmlformats.org/drawingml/2006/main" l="0" t="21676" r="0" b="216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4050" y="3562350"/>
            <a:ext cx="5657850" cy="1943100"/>
          </a:xfrm>
          <a:prstGeom xmlns:a="http://schemas.openxmlformats.org/drawingml/2006/main" prst="roundRect">
            <a:avLst>
              <a:gd name="adj" fmla="val 4902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74EA51-1BBB-4CCE-A91E-99B4460C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562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课件生成界面：输入区与结果区并列</a:t>
            </a:r>
          </a:p>
        </p:txBody>
      </p:sp>
    </p:spTree>
    <p:extLst>
      <p:ext uri="{BB962C8B-B14F-4D97-AF65-F5344CB8AC3E}">
        <p14:creationId xmlns:p14="http://schemas.microsoft.com/office/powerpoint/2010/main" val="1369003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6C67C-A3BA-4C68-8E7D-2531E2C7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教学设计工作台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C0A1F-BAAB-4925-8A04-943E6AE2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课前：把准备工作放进时间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B678A-BDCA-40C0-ADBD-7ACCF80C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C92D4-2ACA-4D9C-B50F-65C3E988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课表与备课日历，让准备工作落在时间里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51FD1-CAE2-4D55-B084-A6E92D91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62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授课、备课、作业和复盘，放在同一个节奏里管理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1C5E6-1EF3-4E97-914C-88AEE9E5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685800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73bfbf0784769"/>
          <a:stretch xmlns:a="http://schemas.openxmlformats.org/drawingml/2006/main"/>
        </p:blipFill>
        <p:spPr>
          <a:xfrm xmlns:a="http://schemas.openxmlformats.org/drawingml/2006/main">
            <a:off x="796761" y="2019300"/>
            <a:ext cx="6064577" cy="3676650"/>
          </a:xfrm>
          <a:prstGeom xmlns:a="http://schemas.openxmlformats.org/drawingml/2006/main" prst="roundRect">
            <a:avLst>
              <a:gd name="adj" fmla="val 259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E7101-688E-47B8-BB73-507CC338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76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D51C7-4102-4991-A105-B82E6A97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02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一个月的教学节奏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225F8-FA9B-4B38-B240-1578267B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051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DEEFE-776D-4C42-BFDB-77FF97FA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授课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2ACCE-798C-4F2F-B75A-EE1B2C60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锁定课堂发生的时间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2D7D7-5892-480B-91C1-AFF599AC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575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188DE-CFBD-4029-A4EB-E97BE22D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备课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CBA25-F082-483C-BA3F-B4103AEE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14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提前安排材料和课件准备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048BC-87C4-4ECE-BAE5-B7ADE618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241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68955-78B7-46E4-AF35-EA68F05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67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C2413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2413C"/>
                </a:solidFill>
                <a:latin typeface="PingFang SC"/>
                <a:ea typeface="PingFang SC"/>
                <a:cs typeface="PingFang SC"/>
              </a:rPr>
              <a:t>作业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94D80-FE8C-4593-9741-216D90DC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67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标记收集、批改和反馈节点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8F928-D10D-4131-8B41-9D479626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47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F0F69-B42D-49B0-85E1-AFC9DC96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47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47A6"/>
                </a:solidFill>
                <a:latin typeface="PingFang SC"/>
                <a:ea typeface="PingFang SC"/>
                <a:cs typeface="PingFang SC"/>
              </a:rPr>
              <a:t>复盘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2E395-802D-42BB-AC18-3C35324A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为下一次课留下回看入口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4BDA85-6356-49BD-A451-38D931C0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29200"/>
            <a:ext cx="350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CD1FD-91BD-4308-B3CA-A056ECD7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578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日历不是提醒工具，而是教学动作编排器。</a:t>
            </a:r>
          </a:p>
        </p:txBody>
      </p:sp>
    </p:spTree>
    <p:extLst>
      <p:ext uri="{BB962C8B-B14F-4D97-AF65-F5344CB8AC3E}">
        <p14:creationId xmlns:p14="http://schemas.microsoft.com/office/powerpoint/2010/main" val="1859014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A53310-F778-4003-9034-6F8022AA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教学设计工作台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0B17F-C6B4-477A-894C-8F726FC3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课中：把注意力留在学生身上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9943A-6947-4029-8A84-F6F83442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64F69-27BD-49BD-B042-B71D0FC0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课堂助手，把教师注意力留在学生身上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5C7CD-D386-4A02-AC48-E92C76E5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62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上课时快速控节奏，随时拿到一个可追问的问题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5D89F-F2DC-40D7-A43A-44A3C449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4629150" cy="3657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EC7BF-49C5-441A-9001-B8D4406D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B7C4D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C4D6"/>
                </a:solidFill>
                <a:latin typeface="PingFang SC"/>
                <a:ea typeface="PingFang SC"/>
                <a:cs typeface="PingFang SC"/>
              </a:rPr>
              <a:t>课堂计时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4DE6E-9CEB-480D-B958-142DB79C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7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45:00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A3C2A-5225-47F5-930A-99BBAE86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54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8955C-4213-4707-A647-0AC932E2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B7C4D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7C4D6"/>
                </a:solidFill>
                <a:latin typeface="PingFang SC"/>
                <a:ea typeface="PingFang SC"/>
                <a:cs typeface="PingFang SC"/>
              </a:rPr>
              <a:t>当前状态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78D19-08BE-4B1B-A90B-9C5CB745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未开始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D7DC7-D58C-4F47-8225-43C380B7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7200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FC5F8-F7BC-4527-991E-9031DDD3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86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开始课堂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AD78E-6D97-4B65-AED8-25F04154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课堂节奏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36385-D637-429F-BA5F-C48DA580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0035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199B1-0C93-43E7-BF55-AD100D9A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讲授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AAF6E-8DFC-4116-9300-5E88A34D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控制时间，避免一个环节拖长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72677-F1F9-4D50-A4E0-FA28ABE0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9025C-46A3-42D4-87DF-C0F63D10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7665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E6B34-E2B9-43D4-926F-1932FED5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57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追问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3DF66-89C4-4B01-B1B8-E8E8139D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随时生成一个可继续讨论的问题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E5F394-6F2A-4E3F-8081-2503F6E4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AB9E1-749C-438A-80CD-CD5C7DBD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5295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252B0-60F9-4436-80D8-7D67832E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33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复盘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F38296-3A74-4FC4-8A55-D0749FB8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76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下课后保留课堂观察和待跟进事项</a:t>
            </a:r>
          </a:p>
        </p:txBody>
      </p:sp>
    </p:spTree>
    <p:extLst>
      <p:ext uri="{BB962C8B-B14F-4D97-AF65-F5344CB8AC3E}">
        <p14:creationId xmlns:p14="http://schemas.microsoft.com/office/powerpoint/2010/main" val="7584694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FF47B-EE9F-4B61-9E98-5DE1A701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教学设计工作台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A9075-5FFE-4364-8F37-E362C7CA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课后：把重复工作交给工作台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0EBC6-10DB-4194-B489-CAECB4A8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1E6E1-ADA0-4831-812A-E40AA5B4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作业批改，从单份作业走向批量处理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FC9F5-F677-4953-BC91-9BFBA510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62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统一评分标准，连续处理多份作业，结果再进入学情分析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F2233-C92A-492D-99FC-77D2DD23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953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6cdc313084659"/>
          <a:stretch xmlns:a="http://schemas.openxmlformats.org/drawingml/2006/main"/>
        </p:blipFill>
        <p:spPr>
          <a:xfrm xmlns:a="http://schemas.openxmlformats.org/drawingml/2006/main">
            <a:off x="597125" y="1943100"/>
            <a:ext cx="4558849" cy="371475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AE747-45FD-49A7-A346-3BD93007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76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754A9-2412-4AC6-8602-66994936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240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C2413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2413C"/>
                </a:solidFill>
                <a:latin typeface="PingFang SC"/>
                <a:ea typeface="PingFang SC"/>
                <a:cs typeface="PingFang SC"/>
              </a:rPr>
              <a:t>批量批改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819AA-ADA0-4AAA-A43D-F78C16A8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C2413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413C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343D4-D090-4C3C-AEA7-A02425D8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导入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193AB-18CC-443E-A491-081A107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一次选择多份作业文件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C8365-64EF-4B87-A1F1-04E43D4B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9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TXT · Markdown · CSV · 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CB5E7-8BD8-49C6-A24F-4E26478C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4508A-F364-4FD6-8D24-245067EB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C2413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413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914E3-0558-4833-A90E-1EEA284D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统一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303F5-9423-472C-9BEA-73B313B1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用同一套作业要求和评分标准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56B41C-6AF9-4335-96BE-83CDE799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规则先设定，再连续执行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BD141-9463-4D9B-AD0C-F5BDE814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D9A29-1074-4491-B957-CF6C627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C2413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413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BF6D2-3B77-4334-9661-501A42BE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D1447-6BAC-4731-80BB-05E51970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62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集中查看批改结果和反馈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3C4C03-6642-4789-B6F4-2BFEF167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86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为学情分析留下结构化结果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EC88B-3B6E-4883-90F0-A7999A56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4991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319D1-ED62-4923-A0D0-3CA8A67E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483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47A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47A6"/>
                </a:solidFill>
                <a:latin typeface="PingFang SC"/>
                <a:ea typeface="PingFang SC"/>
                <a:cs typeface="PingFang SC"/>
              </a:rPr>
              <a:t>批改流转更快，反馈口径更一致</a:t>
            </a:r>
          </a:p>
        </p:txBody>
      </p:sp>
    </p:spTree>
    <p:extLst>
      <p:ext uri="{BB962C8B-B14F-4D97-AF65-F5344CB8AC3E}">
        <p14:creationId xmlns:p14="http://schemas.microsoft.com/office/powerpoint/2010/main" val="565608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A4CB40-CEAA-455A-8A93-85254DE5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教学设计工作台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745A4-F872-49AE-9DA2-8DDC18A3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课后：把结果变成下一次教学动作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FB663-716F-4E57-BB3C-FDBCDA80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15771-60B4-452E-BEC0-BED2F5CD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学情分析，把批改结果变成下一次教学动作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6A947-1DB8-4CE5-9B08-47B8A5BF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62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分析不是报表终点，而是下一次备课的输入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973A8-DECD-4452-A451-D6D98A75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32194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FCF3E-8AF5-4118-BFBF-4E958A62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495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B9ABD-3904-4DFA-BE06-6505980A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看见问题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F690E-C832-4F0E-9954-F264B928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609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从作业结果里找到高频错误和共性卡点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C87D3-B8D8-4F29-B5F7-1074E8D6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6230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AFCB4-1288-4CF5-881C-03B4E5E1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32194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BCD5E-386A-4841-8C81-100A0105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495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555BF-9579-433D-BB72-0759EA60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分辨差异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6D57D-8227-429D-B668-C9D445CA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2609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区分全班共性问题与个别学生需要的支持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1BA24-5F35-430E-8D99-EA7543D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5EA36-E0E6-40BB-9B2C-0047BE9D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52650"/>
            <a:ext cx="32194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8423D-5248-4AE0-B416-899E22FC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495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AAB4F-B5EE-4FB6-B3D3-38166CF4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调整方案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6F0314-15CF-4254-8EEF-68FDF7DF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2609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把发现带回下一次课的目标、任务和讲解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47FD4-54DC-4661-BE62-262D81F9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86350"/>
            <a:ext cx="941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3CBD2D-CFC1-45AE-A405-928EF178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53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34AF90-45AB-4927-8D47-8FA4920E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953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C100A-2122-42AA-9CB2-7EDA4AB3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本次作业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EA7CC5-0357-4236-8450-E7074F4B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102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下一次备课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41D45C-3F67-4160-AEC2-BEB9D06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339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1747A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47A6"/>
                </a:solidFill>
                <a:latin typeface="PingFang SC"/>
                <a:ea typeface="PingFang SC"/>
                <a:cs typeface="PingFang SC"/>
              </a:rPr>
              <a:t>教师看到的，不只是分数，还有下一步该教什么。</a:t>
            </a:r>
          </a:p>
        </p:txBody>
      </p:sp>
    </p:spTree>
    <p:extLst>
      <p:ext uri="{BB962C8B-B14F-4D97-AF65-F5344CB8AC3E}">
        <p14:creationId xmlns:p14="http://schemas.microsoft.com/office/powerpoint/2010/main" val="2719181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A73327-EB63-4EB7-94A5-1BC3ED61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教学设计工作台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A61CA-0D67-4E3E-A5DF-86B67B92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产品主线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498D3-0CB8-46B6-8056-F9D61723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639E6-ECAA-49CC-A40F-88DB8310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一条闭环：课程空间把结果沉淀下来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8C41B-FF12-4287-AD66-D40B1FDF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62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每一次教学都不是一次性消耗，而是下一次备课的材料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B76F3-FFE9-4DD6-A301-63B26728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23050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63F9F-CBEA-4AAE-9E71-6ECC1433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课前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31855-D2A9-43CA-8D79-3ED6A5C7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课程 + 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28A07-EA29-4171-BB0D-81EB3A5B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准备输入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B771A-8764-44A5-AB92-BE50AEF6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55BBE-2FC0-49FD-8761-0A7CB4E3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33650"/>
            <a:ext cx="23050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DF37B-5784-4BAF-9BEB-C6CB3109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课中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D7839-0DEE-4BAD-ADBE-4BC3B7F8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813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课件 + 助手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A0493-D76E-4F4B-AF08-F3F6EBAC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338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支持讲授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961F7-D73F-446D-A19B-4B6B955E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194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806C0-5E36-43F6-AC39-F1850B40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33650"/>
            <a:ext cx="23050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2FE8B-FC83-4587-8CD9-8782F50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2413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2413C"/>
                </a:solidFill>
                <a:latin typeface="PingFang SC"/>
                <a:ea typeface="PingFang SC"/>
                <a:cs typeface="PingFang SC"/>
              </a:rPr>
              <a:t>课后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C697B-9E8D-48EC-AE02-F4B78800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批改 + 分析 + 复盘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0C8DF-DAB0-444A-BB04-171B8528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形成证据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6BD8C-6123-4890-8963-B75CAFBB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FC192-D088-4F4B-A508-5C786E8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33650"/>
            <a:ext cx="23050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63D06-E7E8-4A0F-89C4-34DE40AF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1747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47A6"/>
                </a:solidFill>
                <a:latin typeface="PingFang SC"/>
                <a:ea typeface="PingFang SC"/>
                <a:cs typeface="PingFang SC"/>
              </a:rPr>
              <a:t>下一次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704FA-8D9A-4999-A827-FBDF24B2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813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继续生成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54FC1E-629E-47F1-8CB9-B685427E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进入新一轮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3A7D27-0971-4533-9A65-A4A7584A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874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2BD34-92D7-4D6A-B1D1-F2209EC1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05350"/>
            <a:ext cx="11239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592665-39BF-48BD-835D-7CDC527A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10125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747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47A6"/>
                </a:solidFill>
                <a:latin typeface="PingFang SC"/>
                <a:ea typeface="PingFang SC"/>
                <a:cs typeface="PingFang SC"/>
              </a:rPr>
              <a:t>课程空间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499FE4-EE88-4146-8F40-2FCF7CB8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05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把输入、过程和结果放在一起，教师才能真正复用经验。</a:t>
            </a:r>
          </a:p>
        </p:txBody>
      </p:sp>
    </p:spTree>
    <p:extLst>
      <p:ext uri="{BB962C8B-B14F-4D97-AF65-F5344CB8AC3E}">
        <p14:creationId xmlns:p14="http://schemas.microsoft.com/office/powerpoint/2010/main" val="11548244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07D30B-0550-444F-97FB-60144D05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教学设计工作台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98CFE-8DD5-4FD3-A910-DD34CDF6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真实演示素材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B78F2-6CCC-4CA9-8AF6-D3BED864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F2D05-26A3-40AC-9065-12B9F0BA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从产品演示到真实课堂，只差三段素材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42369-5666-402D-BA76-F995C997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62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当前 PPT 已放入真实界面截图，后续可替换为你的屏幕录制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B8902-94D3-41B9-9FE9-4AF51937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4857750" cy="2876550"/>
          </a:xfrm>
          <a:prstGeom xmlns:a="http://schemas.openxmlformats.org/drawingml/2006/main" prst="roundRect">
            <a:avLst>
              <a:gd name="adj" fmla="val 5960"/>
            </a:avLst>
          </a:prstGeom>
          <a:solidFill xmlns:a="http://schemas.openxmlformats.org/drawingml/2006/main">
            <a:srgbClr val="18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88399-4836-4446-AC16-79AC38DC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86050"/>
            <a:ext cx="1428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253449"/>
          </a:solidFill>
          <a:ln xmlns:a="http://schemas.openxmlformats.org/drawingml/2006/main" w="9525">
            <a:solidFill>
              <a:srgbClr val="5B6B8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D16B5-5500-4B92-98F6-95ABF830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00375"/>
            <a:ext cx="419100" cy="4191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EBB6A-11DA-441B-981E-551A3E96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814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视频位 · 待替换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6E123-7B4D-4625-8EFB-B1B18977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B7C4D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7C4D6"/>
                </a:solidFill>
                <a:latin typeface="PingFang SC"/>
                <a:ea typeface="PingFang SC"/>
                <a:cs typeface="PingFang SC"/>
              </a:rPr>
              <a:t>建议每段 30–45 秒，横屏 16:9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A5195-BCBF-47C7-8805-FC40518B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76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B9371-59C5-4E38-A76E-89CDF897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建议录制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7D757-DA8A-4E0B-B3AB-0D7FEA9C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A1C61-A050-402F-A9E8-25E18038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90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课程空间 → 用于课件生成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648D1-2865-4F05-BACB-0B66382D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展示课程、附件和课件生成之间的连接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DE85F-EBAC-4DE9-9809-B703B34A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57A40-5D6D-49DD-AF26-5BCFA44A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70011-44F0-4956-A40F-8DA3B7E8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作业批改 → 批量导入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2A5AD7-ADD9-4319-B05E-AEEA79D0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71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展示多份作业、批改进度和结果列表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5202B-96DE-49DF-87DE-1626B232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3E1CA-6DBD-4BFD-8A41-C74C61F2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5A930-4D27-4633-8CAA-FB9CEF76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课表日历 → 新增安排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F244C-03EF-4097-83A2-72287E23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展示日期、安排类型和安排内容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D98E8-7091-46E7-A5A7-12237BBC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4895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0547B-6411-4AEE-B9D8-3973EF33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340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1747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47A6"/>
                </a:solidFill>
                <a:latin typeface="PingFang SC"/>
                <a:ea typeface="PingFang SC"/>
                <a:cs typeface="PingFang SC"/>
              </a:rPr>
              <a:t>录制时隐藏浏览器地址栏，保留鼠标操作和关键结果。</a:t>
            </a:r>
          </a:p>
        </p:txBody>
      </p:sp>
    </p:spTree>
    <p:extLst>
      <p:ext uri="{BB962C8B-B14F-4D97-AF65-F5344CB8AC3E}">
        <p14:creationId xmlns:p14="http://schemas.microsoft.com/office/powerpoint/2010/main" val="21472809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F0175-6AD0-4D7E-A73F-6DF7FF72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教学设计工作台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386DE-BCD5-4378-A594-B86A4194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5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给老师一条更短的路径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9798F-C504-4C2E-BB2E-75D75E2F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241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准备 · 讲授 · 批改 · 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22030-A946-4715-95F8-96FE54D1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0"/>
            <a:ext cx="1257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BB40D-DDF4-40EA-B9AE-883CDD5E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95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1747A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47A6"/>
                </a:solidFill>
                <a:latin typeface="PingFang SC"/>
                <a:ea typeface="PingFang SC"/>
                <a:cs typeface="PingFang SC"/>
              </a:rPr>
              <a:t>把时间还给教学判断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19609-D2BB-41A1-8839-228A06BB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47800"/>
            <a:ext cx="0" cy="3505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4A41B-3AF1-492C-B362-B4CCAA57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85900"/>
            <a:ext cx="5715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1236C-D732-48BA-A99E-07655053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097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F00E7-E532-4C70-8DEE-561F9476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38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把课程和材料准备好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43D3C-FCF0-4278-B86B-9019A653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5715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A2351-6889-48C2-9AB8-97661851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050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875CA-BC9D-40E4-A9FE-FEA7F334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让课堂节奏更从容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A810E-4818-4484-8C4E-B02FA1AA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76600"/>
            <a:ext cx="5715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C2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2EF4D-7384-491D-8CAD-DE7A56EC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004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6E594-F39D-42D8-AF78-9A33EA7E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让批改和反馈可持续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092F2-F9B8-420B-A591-6BA619DB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71950"/>
            <a:ext cx="5715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174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ACC94-71E6-4392-A89E-25AE87CD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957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B6246-7014-46EB-9EEC-95BD386D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让下一次课更有依据</a:t>
            </a:r>
          </a:p>
        </p:txBody>
      </p:sp>
    </p:spTree>
    <p:extLst>
      <p:ext uri="{BB962C8B-B14F-4D97-AF65-F5344CB8AC3E}">
        <p14:creationId xmlns:p14="http://schemas.microsoft.com/office/powerpoint/2010/main" val="1325508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2026-07-17T11:52:04.7300000Z</dcterms:created>
  <dcterms:modified xsi:type="dcterms:W3CDTF">2026-07-17T11:52:04.7300000Z</dcterms:modified>
</coreProperties>
</file>